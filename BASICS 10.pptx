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Open Sans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OpenSans-boldItalic.fntdata"/><Relationship Id="rId10" Type="http://schemas.openxmlformats.org/officeDocument/2006/relationships/font" Target="fonts/OpenSans-italic.fntdata"/><Relationship Id="rId9" Type="http://schemas.openxmlformats.org/officeDocument/2006/relationships/font" Target="fonts/Open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OpenSa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e8a658710f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e8a658710f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e8a658710f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e8a658710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type="ctrTitle"/>
          </p:nvPr>
        </p:nvSpPr>
        <p:spPr>
          <a:xfrm>
            <a:off x="4625351" y="349100"/>
            <a:ext cx="38520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408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BASICS 10</a:t>
            </a:r>
            <a:endParaRPr sz="408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1850850" y="2175450"/>
            <a:ext cx="5442300" cy="792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3F3F3"/>
                </a:solidFill>
              </a:rPr>
              <a:t>Day 0: Pre-course Brief</a:t>
            </a:r>
            <a:endParaRPr>
              <a:solidFill>
                <a:srgbClr val="F3F3F3"/>
              </a:solidFill>
            </a:endParaRPr>
          </a:p>
        </p:txBody>
      </p:sp>
      <p:cxnSp>
        <p:nvCxnSpPr>
          <p:cNvPr id="57" name="Google Shape;57;p13"/>
          <p:cNvCxnSpPr/>
          <p:nvPr/>
        </p:nvCxnSpPr>
        <p:spPr>
          <a:xfrm>
            <a:off x="391500" y="1334250"/>
            <a:ext cx="8361000" cy="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>
            <p:ph idx="1" type="subTitle"/>
          </p:nvPr>
        </p:nvSpPr>
        <p:spPr>
          <a:xfrm>
            <a:off x="256175" y="1793100"/>
            <a:ext cx="8414100" cy="27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79730" lvl="0" marL="457200" rtl="0" algn="l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ct val="100000"/>
              <a:buFont typeface="Open Sans"/>
              <a:buAutoNum type="arabicPeriod"/>
            </a:pPr>
            <a:r>
              <a:rPr lang="en-GB">
                <a:solidFill>
                  <a:srgbClr val="F3F3F3"/>
                </a:solidFill>
                <a:latin typeface="Open Sans"/>
                <a:ea typeface="Open Sans"/>
                <a:cs typeface="Open Sans"/>
                <a:sym typeface="Open Sans"/>
              </a:rPr>
              <a:t>Deliverables for Day 1</a:t>
            </a:r>
            <a:endParaRPr>
              <a:solidFill>
                <a:srgbClr val="F3F3F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79730" lvl="1" marL="914400" rtl="0" algn="l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ct val="100000"/>
              <a:buFont typeface="Open Sans"/>
              <a:buAutoNum type="alphaLcPeriod"/>
            </a:pPr>
            <a:r>
              <a:rPr lang="en-GB">
                <a:solidFill>
                  <a:srgbClr val="F3F3F3"/>
                </a:solidFill>
                <a:latin typeface="Open Sans"/>
                <a:ea typeface="Open Sans"/>
                <a:cs typeface="Open Sans"/>
                <a:sym typeface="Open Sans"/>
              </a:rPr>
              <a:t>Required Hardware and Software</a:t>
            </a:r>
            <a:endParaRPr>
              <a:solidFill>
                <a:srgbClr val="F3F3F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79730" lvl="1" marL="914400" rtl="0" algn="l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ct val="100000"/>
              <a:buFont typeface="Open Sans"/>
              <a:buAutoNum type="alphaLcPeriod"/>
            </a:pPr>
            <a:r>
              <a:rPr lang="en-GB">
                <a:solidFill>
                  <a:srgbClr val="F3F3F3"/>
                </a:solidFill>
                <a:latin typeface="Open Sans"/>
                <a:ea typeface="Open Sans"/>
                <a:cs typeface="Open Sans"/>
                <a:sym typeface="Open Sans"/>
              </a:rPr>
              <a:t>Pre-Class Material</a:t>
            </a:r>
            <a:br>
              <a:rPr lang="en-GB">
                <a:solidFill>
                  <a:srgbClr val="F3F3F3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>
              <a:solidFill>
                <a:srgbClr val="F3F3F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79730" lvl="0" marL="457200" rtl="0" algn="l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ct val="100000"/>
              <a:buFont typeface="Open Sans"/>
              <a:buAutoNum type="arabicPeriod"/>
            </a:pPr>
            <a:r>
              <a:rPr lang="en-GB">
                <a:solidFill>
                  <a:srgbClr val="F3F3F3"/>
                </a:solidFill>
                <a:latin typeface="Open Sans"/>
                <a:ea typeface="Open Sans"/>
                <a:cs typeface="Open Sans"/>
                <a:sym typeface="Open Sans"/>
              </a:rPr>
              <a:t>Section introductions and icebreakers</a:t>
            </a:r>
            <a:endParaRPr>
              <a:solidFill>
                <a:srgbClr val="F3F3F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79730" lvl="1" marL="914400" rtl="0" algn="l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ct val="100000"/>
              <a:buFont typeface="Open Sans"/>
              <a:buAutoNum type="alphaLcPeriod"/>
            </a:pPr>
            <a:r>
              <a:rPr lang="en-GB">
                <a:solidFill>
                  <a:srgbClr val="F3F3F3"/>
                </a:solidFill>
                <a:latin typeface="Open Sans"/>
                <a:ea typeface="Open Sans"/>
                <a:cs typeface="Open Sans"/>
                <a:sym typeface="Open Sans"/>
              </a:rPr>
              <a:t>What do you do for work?</a:t>
            </a:r>
            <a:endParaRPr>
              <a:solidFill>
                <a:srgbClr val="F3F3F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79730" lvl="1" marL="914400" rtl="0" algn="l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ct val="100000"/>
              <a:buFont typeface="Open Sans"/>
              <a:buAutoNum type="alphaLcPeriod"/>
            </a:pPr>
            <a:r>
              <a:rPr lang="en-GB">
                <a:solidFill>
                  <a:srgbClr val="F3F3F3"/>
                </a:solidFill>
                <a:latin typeface="Open Sans"/>
                <a:ea typeface="Open Sans"/>
                <a:cs typeface="Open Sans"/>
                <a:sym typeface="Open Sans"/>
              </a:rPr>
              <a:t>Why do you want to learn coding?</a:t>
            </a:r>
            <a:endParaRPr>
              <a:solidFill>
                <a:srgbClr val="F3F3F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79730" lvl="1" marL="914400" rtl="0" algn="l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ct val="100000"/>
              <a:buFont typeface="Open Sans"/>
              <a:buAutoNum type="alphaLcPeriod"/>
            </a:pPr>
            <a:r>
              <a:rPr lang="en-GB">
                <a:solidFill>
                  <a:srgbClr val="F3F3F3"/>
                </a:solidFill>
                <a:latin typeface="Open Sans"/>
                <a:ea typeface="Open Sans"/>
                <a:cs typeface="Open Sans"/>
                <a:sym typeface="Open Sans"/>
              </a:rPr>
              <a:t>What are your career goals?</a:t>
            </a:r>
            <a:endParaRPr>
              <a:solidFill>
                <a:srgbClr val="F3F3F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79730" lvl="1" marL="914400" rtl="0" algn="l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ct val="100000"/>
              <a:buFont typeface="Open Sans"/>
              <a:buAutoNum type="alphaLcPeriod"/>
            </a:pPr>
            <a:r>
              <a:rPr lang="en-GB">
                <a:solidFill>
                  <a:srgbClr val="F3F3F3"/>
                </a:solidFill>
                <a:latin typeface="Open Sans"/>
                <a:ea typeface="Open Sans"/>
                <a:cs typeface="Open Sans"/>
                <a:sym typeface="Open Sans"/>
              </a:rPr>
              <a:t>Fun fact?</a:t>
            </a:r>
            <a:endParaRPr>
              <a:solidFill>
                <a:srgbClr val="F3F3F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64" name="Google Shape;64;p14"/>
          <p:cNvCxnSpPr/>
          <p:nvPr/>
        </p:nvCxnSpPr>
        <p:spPr>
          <a:xfrm>
            <a:off x="391500" y="1334250"/>
            <a:ext cx="8361000" cy="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" name="Google Shape;65;p14"/>
          <p:cNvSpPr txBox="1"/>
          <p:nvPr>
            <p:ph type="ctrTitle"/>
          </p:nvPr>
        </p:nvSpPr>
        <p:spPr>
          <a:xfrm>
            <a:off x="4625351" y="349100"/>
            <a:ext cx="38520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408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BASICS 10</a:t>
            </a:r>
            <a:endParaRPr sz="408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